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B8960C"/>
                </a:solidFill>
                <a:latin typeface="Calibri"/>
              </a:rPr>
              <a:t>CS3315 — Introduction to Machine Learning and Big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03087"/>
                </a:solidFill>
                <a:latin typeface="Calibri"/>
              </a:rPr>
              <a:t>Aviation Engine Health Diagnosis via Task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B6358"/>
                </a:solidFill>
                <a:latin typeface="Calibri"/>
              </a:rPr>
              <a:t>Anomaly Detection · Fault Classification · End-to-End — on the NGAFID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Iván Barbosa Mejía</a:t>
            </a:r>
          </a:p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Naval Postgraduate School · MSCS Q3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Motivation &amp;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1/16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E1E1E"/>
                </a:solidFill>
                <a:latin typeface="Calibri"/>
              </a:rPr>
              <a:t>▸ General aviation: ~65% of US aviation accidents,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6B6358"/>
                </a:solidFill>
                <a:latin typeface="Calibri"/>
              </a:rPr>
              <a:t>▸    with mechanical failures a persistent factor.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3087"/>
                </a:solidFill>
                <a:latin typeface="Calibri"/>
              </a:rPr>
              <a:t>▸ Condition-based maintenance needs to: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1E1E"/>
                </a:solidFill>
                <a:latin typeface="Calibri"/>
              </a:rPr>
              <a:t>▸ Detect anomalous flights (AD)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1E1E"/>
                </a:solidFill>
                <a:latin typeface="Calibri"/>
              </a:rPr>
              <a:t>▸ Identify the specific fault type (FC)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1E1E"/>
                </a:solidFill>
                <a:latin typeface="Calibri"/>
              </a:rPr>
              <a:t>▸ Combine both end-to-end (E2E)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3087"/>
                </a:solidFill>
                <a:latin typeface="Calibri"/>
              </a:rPr>
              <a:t>▸ Goal: classical ML vs deep learning on real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6B6358"/>
                </a:solidFill>
                <a:latin typeface="Calibri"/>
              </a:rPr>
              <a:t>▸    Cessna-172 fleet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54480"/>
            <a:ext cx="4937760" cy="3566160"/>
          </a:xfrm>
          <a:prstGeom prst="roundRect">
            <a:avLst/>
          </a:prstGeom>
          <a:solidFill>
            <a:srgbClr val="F5F3EF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389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Two-stage diagnosis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   Raw flight  (23 sensors × 2048)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          ↓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   [ AD ]  Healthy / Anomalous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          ↓  (if anomalous)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   [ FC ]  1 of 19 fault types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          ↓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   E2E:  20-class diagnosis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The NGAFID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2/16</a:t>
            </a:r>
          </a:p>
        </p:txBody>
      </p:sp>
      <p:pic>
        <p:nvPicPr>
          <p:cNvPr id="5" name="Picture 4" descr="class-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1784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087"/>
                </a:solidFill>
                <a:latin typeface="Calibri"/>
              </a:rPr>
              <a:t>▸ 11,446 Cessna-172 flights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▸ 23 onboard sensors @ 1 Hz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6B6358"/>
                </a:solidFill>
                <a:latin typeface="Calibri"/>
              </a:rPr>
              <a:t>▸ Resampled to 2,048 timesteps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▸ AD: near-balanced 1.04 : 1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6B6358"/>
                </a:solidFill>
                <a:latin typeface="Calibri"/>
              </a:rPr>
              <a:t>▸    5,844 healthy / 5,602 anomalous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▸ FC: 19 fault classes, long-tail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6B6358"/>
                </a:solidFill>
                <a:latin typeface="Calibri"/>
              </a:rPr>
              <a:t>▸    intake gasket 2,098 : baffle rivet 55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B8960C"/>
                </a:solidFill>
                <a:latin typeface="Calibri"/>
              </a:rPr>
              <a:t>▸    imbalance ratio  38 : 1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▸ 5-fold stratified cross-validation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EDA — Challenge 1: Target Component Sparsity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3/16</a:t>
            </a:r>
          </a:p>
        </p:txBody>
      </p:sp>
      <p:pic>
        <p:nvPicPr>
          <p:cNvPr id="5" name="Picture 4" descr="target-component-spa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498079" cy="22811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Dominant PCs encode the flight envelope (altitude, airspeed) — NOT the fault.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Fault signal lives in low-variance components.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CHT/EGT sensors show the largest volatility shift in anomalous flights.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B8960C"/>
                </a:solidFill>
                <a:latin typeface="Calibri"/>
              </a:rPr>
              <a:t>▸ → Global stats are insufficient for FC.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EDA — Inter-Cylinder Coupling → Repr F++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4/16</a:t>
            </a:r>
          </a:p>
        </p:txBody>
      </p:sp>
      <p:pic>
        <p:nvPicPr>
          <p:cNvPr id="5" name="Picture 4" descr="correlation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315200" cy="3123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Healthy: CHT1–4 correlate r &gt; 0.92 (cylinders share combustion).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A single-cylinder fault breaks the symmetry → correlation drops.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Differences CHT_i − CHT_j and CHT_i − EGT_i encode WHICH cylinder fails.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B8960C"/>
                </a:solidFill>
                <a:latin typeface="Calibri"/>
              </a:rPr>
              <a:t>▸ → Motivates Repr F++ (cross-cylinder features).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Feature Representations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5/16</a:t>
            </a:r>
          </a:p>
        </p:txBody>
      </p:sp>
      <p:pic>
        <p:nvPicPr>
          <p:cNvPr id="5" name="Picture 4" descr="repr-dimen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675120" cy="39730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Repr A  (23×2048)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   raw signal → deep learning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Repr B  (184-D)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   8 stats × 23 sensors → baseline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Repr B_seg  (552–1840-D)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   per-phase segments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8960C"/>
                </a:solidFill>
                <a:latin typeface="Calibri"/>
              </a:rPr>
              <a:t>▸ Repr F++  (224-D)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   B + 40 cross-cylinder diffs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Anti-leakage: scaler fit on train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Results — Anomaly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6/16</a:t>
            </a:r>
          </a:p>
        </p:txBody>
      </p:sp>
      <p:pic>
        <p:nvPicPr>
          <p:cNvPr id="5" name="Picture 4" descr="ad-final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680960" cy="3291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Best classical: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Ensemble × Repr F++ (tuned)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8960C"/>
                </a:solidFill>
                <a:latin typeface="Calibri"/>
              </a:rPr>
              <a:t>▸ F1-macro = 0.703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AUC = 0.767 · FNR = 0.307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Repr F++ &gt; Repr B (+0.012)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Segmentation hurts AD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Gap to DL benchmark: 9.6 pp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(ConvTokMHSA 0.799)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Results — Fault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7/16</a:t>
            </a:r>
          </a:p>
        </p:txBody>
      </p:sp>
      <p:pic>
        <p:nvPicPr>
          <p:cNvPr id="5" name="Picture 4" descr="fc-per-class-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680960" cy="33693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Best classical (Ch.5):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XGBoost × Repr F++ (tuned)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B8960C"/>
                </a:solidFill>
                <a:latin typeface="Calibri"/>
              </a:rPr>
              <a:t>▸ F1-macro = 0.207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Repr F++ gain 7× larger than AD (+0.091)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Rare classes (n&lt;150) → F1 ≈ 0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Strong correlation: class size ↔ F1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Accuracy is misleading here →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F1-macro is the only valid metric.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FC — Oracle K=4 Error Decomposition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8/16</a:t>
            </a:r>
          </a:p>
        </p:txBody>
      </p:sp>
      <p:pic>
        <p:nvPicPr>
          <p:cNvPr id="5" name="Picture 4" descr="fc-oracle-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583680" cy="3256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64592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Decompose FC error into L1 (group) + L2 (type):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1E1E"/>
                </a:solidFill>
                <a:latin typeface="Calibri"/>
              </a:rPr>
              <a:t>▸ Flat XGB            0.207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Cascade K=4      0.172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8960C"/>
                </a:solidFill>
                <a:latin typeface="Calibri"/>
              </a:rPr>
              <a:t>▸ Oracle K=4        0.459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DL MMK Net      0.623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63% of the ceiling is lost to L1 group errors.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Even a perfect L1 leaves a 16-pp gap to DL → temporal features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End-to-End — Error Decomposition (RQ4)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9/16</a:t>
            </a:r>
          </a:p>
        </p:txBody>
      </p:sp>
      <p:pic>
        <p:nvPicPr>
          <p:cNvPr id="5" name="Picture 4" descr="e2e-error-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589520" cy="27765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B8960C"/>
                </a:solidFill>
                <a:latin typeface="Calibri"/>
              </a:rPr>
              <a:t>▸ Cascade AD→FC: F1 = 0.235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beats Direct 20-class (0.113)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Error sources: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Correct 50%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S1-FN 15% (missed fault)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S1-FP 15% (false alarm)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B8960C"/>
                </a:solidFill>
                <a:latin typeface="Calibri"/>
              </a:rPr>
              <a:t>▸ S2 20% (wrong type)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→ FC is the bottleneck, not detection.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Resampling — The RF + SMOTE Discovery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10/16</a:t>
            </a:r>
          </a:p>
        </p:txBody>
      </p:sp>
      <p:pic>
        <p:nvPicPr>
          <p:cNvPr id="5" name="Picture 4" descr="resampling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949440" cy="26777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5544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Effect is strongly model-dependent: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RF + class_weight   0.062 (worst)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B8960C"/>
                </a:solidFill>
                <a:latin typeface="Calibri"/>
              </a:rPr>
              <a:t>▸ RF + SMOTE           0.315 (BEST)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XGB + RUS mod.      0.195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RF transformed 5× by SMOTE.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Beats prior best (0.207) by +52%.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E1E1E"/>
                </a:solidFill>
                <a:latin typeface="Calibri"/>
              </a:rPr>
              <a:t>▸ Gap to DL: 41.6 → 30.8 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Deep Learning on Raw Signal (Repr 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11/16</a:t>
            </a:r>
          </a:p>
        </p:txBody>
      </p:sp>
      <p:pic>
        <p:nvPicPr>
          <p:cNvPr id="5" name="Picture 4" descr="dl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680960" cy="28024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PyTorch + Apple MPS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1D-CNN · Bi-LSTM · CNN+Attn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B8960C"/>
                </a:solidFill>
                <a:latin typeface="Calibri"/>
              </a:rPr>
              <a:t>▸ AD: CNN+Attn = 0.740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   beats classical 0.703 ✓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FC: DL 0.234 &lt; classical 0.315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E2E: DL 0.201 &lt; classical 0.235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Bi-LSTM collapses (FC 0.052)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DL on FC — Three Improvement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12/16</a:t>
            </a:r>
          </a:p>
        </p:txBody>
      </p:sp>
      <p:pic>
        <p:nvPicPr>
          <p:cNvPr id="5" name="Picture 4" descr="dl-fc-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766560" cy="3334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5544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A: Transfer AD→FC   0.057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   AD features ≠ FC features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B: DL-emb + RF      0.164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   embeddings lack type info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B8960C"/>
                </a:solidFill>
                <a:latin typeface="Calibri"/>
              </a:rPr>
              <a:t>▸ C: 5-fold + repl.    0.250 (best DL)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6B6358"/>
                </a:solidFill>
                <a:latin typeface="Calibri"/>
              </a:rPr>
              <a:t>▸    still &lt; classical 0.315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003087"/>
                </a:solidFill>
                <a:latin typeface="Calibri"/>
              </a:rPr>
              <a:t>▸ None beats classical RF+SMOTE.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FC limit is data scarcity,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▸ not the technique.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Master Comparison — Classical vs DL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13/16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645920"/>
          <a:ext cx="9966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2926080"/>
                <a:gridCol w="18288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Best Classical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Best DL (ours)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Paper DL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AD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0.703  Ens. F++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8960C"/>
                          </a:solidFill>
                          <a:latin typeface="Calibri"/>
                        </a:rPr>
                        <a:t>0.740  CNN+Attn ✓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0.799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FC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8960C"/>
                          </a:solidFill>
                          <a:latin typeface="Calibri"/>
                        </a:rPr>
                        <a:t>0.315  RF+SMOTE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0.250  5-fold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0.623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E2E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8960C"/>
                          </a:solidFill>
                          <a:latin typeface="Calibri"/>
                        </a:rPr>
                        <a:t>0.235  RF cascade ✓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0.201  CNN cascade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0.623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438912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003087"/>
                </a:solidFill>
                <a:latin typeface="Calibri"/>
              </a:rPr>
              <a:t>The winner of each task is decided by its DATA REGIME:</a:t>
            </a:r>
          </a:p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003087"/>
                </a:solidFill>
                <a:latin typeface="Calibri"/>
              </a:rPr>
              <a:t>    AD — abundant &amp; balanced → DL wins.        FC — scarce &amp; imbalanced → classical wins.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14/16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03087"/>
                </a:solidFill>
                <a:latin typeface="Calibri"/>
              </a:rPr>
              <a:t>▸ Physics-anchored feature engineering matters most where the task is hardest — Repr F++ gave the largest gains on FC.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003087"/>
                </a:solidFill>
                <a:latin typeface="Calibri"/>
              </a:rPr>
              <a:t>▸ The optimal imbalance remedy is model-specific — RF + SMOTE (0.315) far exceeded loss-weighted XGBoost.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003087"/>
                </a:solidFill>
                <a:latin typeface="Calibri"/>
              </a:rPr>
              <a:t>▸ Task decomposition succeeds when the first stage is strong — AD→FC cascade beats direct 20-class.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003087"/>
                </a:solidFill>
                <a:latin typeface="Calibri"/>
              </a:rPr>
              <a:t>▸ Deep learning's advantage is conditional on the data regime — wins AD, loses FC.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E1E1E"/>
                </a:solidFill>
                <a:latin typeface="Calibri"/>
              </a:rPr>
              <a:t>▸ 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003087"/>
                </a:solidFill>
                <a:latin typeface="Calibri"/>
              </a:rPr>
              <a:t>▸ Metric &amp; protocol choices determine the conclusions — F1-macro, error decomposition, anti-leakage.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3087"/>
                </a:solidFill>
                <a:latin typeface="Calibri"/>
              </a:rPr>
              <a:t>Final Recommendation — Hybrid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82296"/>
          </a:xfrm>
          <a:prstGeom prst="rect">
            <a:avLst/>
          </a:prstGeom>
          <a:solidFill>
            <a:srgbClr val="B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B8960C"/>
                </a:solidFill>
                <a:latin typeface="Calibri"/>
              </a:rPr>
              <a:t>15/16</a:t>
            </a:r>
          </a:p>
        </p:txBody>
      </p:sp>
      <p:pic>
        <p:nvPicPr>
          <p:cNvPr id="5" name="Picture 4" descr="e2e-full-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040880" cy="349077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645920"/>
            <a:ext cx="3931920" cy="3291840"/>
          </a:xfrm>
          <a:prstGeom prst="roundRect">
            <a:avLst/>
          </a:prstGeom>
          <a:solidFill>
            <a:srgbClr val="F5F3EF"/>
          </a:solidFill>
          <a:ln w="25400">
            <a:solidFill>
              <a:srgbClr val="B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874519"/>
            <a:ext cx="3474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Deploy a HYBRID: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AD stage →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   Deep CNN+Attn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   (abundant data)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FC stage →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   Classical RF+SMOTE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   (data scarcity)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Each task → the model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E1E1E"/>
                </a:solidFill>
                <a:latin typeface="Calibri"/>
              </a:rPr>
              <a:t>its data regime rewards.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358"/>
                </a:solidFill>
                <a:latin typeface="Calibri"/>
              </a:rPr>
              <a:t>Full report: 68 pages · 8 chapters · EDA → Representations → AD → FC → E2E → Resampling → DL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